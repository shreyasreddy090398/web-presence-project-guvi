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A88DE0-CA04-4363-B7F6-320D502B7F8A}" type="datetimeFigureOut">
              <a:rPr lang="en-IN" smtClean="0"/>
              <a:t>29-11-2024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4228544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88DE0-CA04-4363-B7F6-320D502B7F8A}" type="datetimeFigureOut">
              <a:rPr lang="en-IN" smtClean="0"/>
              <a:t>29-11-2024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1278281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88DE0-CA04-4363-B7F6-320D502B7F8A}" type="datetimeFigureOut">
              <a:rPr lang="en-IN" smtClean="0"/>
              <a:t>29-11-2024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624270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A88DE0-CA04-4363-B7F6-320D502B7F8A}" type="datetimeFigureOut">
              <a:rPr lang="en-IN" smtClean="0"/>
              <a:t>29-11-2024</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1271852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A88DE0-CA04-4363-B7F6-320D502B7F8A}" type="datetimeFigureOut">
              <a:rPr lang="en-IN" smtClean="0"/>
              <a:t>29-11-2024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1924415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A88DE0-CA04-4363-B7F6-320D502B7F8A}" type="datetimeFigureOut">
              <a:rPr lang="en-IN" smtClean="0"/>
              <a:t>29-11-2024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3125629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88DE0-CA04-4363-B7F6-320D502B7F8A}" type="datetimeFigureOut">
              <a:rPr lang="en-IN" smtClean="0"/>
              <a:t>29-11-2024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1197732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A88DE0-CA04-4363-B7F6-320D502B7F8A}" type="datetimeFigureOut">
              <a:rPr lang="en-IN" smtClean="0"/>
              <a:t>29-11-2024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1676375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A88DE0-CA04-4363-B7F6-320D502B7F8A}" type="datetimeFigureOut">
              <a:rPr lang="en-IN" smtClean="0"/>
              <a:t>29-11-2024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3102522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88DE0-CA04-4363-B7F6-320D502B7F8A}" type="datetimeFigureOut">
              <a:rPr lang="en-IN" smtClean="0"/>
              <a:t>29-11-2024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1717913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88DE0-CA04-4363-B7F6-320D502B7F8A}" type="datetimeFigureOut">
              <a:rPr lang="en-IN" smtClean="0"/>
              <a:t>29-11-2024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571F768-C4FF-438C-9893-EB83E21BC0C2}"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496972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2A88DE0-CA04-4363-B7F6-320D502B7F8A}" type="datetimeFigureOut">
              <a:rPr lang="en-IN" smtClean="0"/>
              <a:t>29-11-2024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1285829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2A88DE0-CA04-4363-B7F6-320D502B7F8A}" type="datetimeFigureOut">
              <a:rPr lang="en-IN" smtClean="0"/>
              <a:t>29-11-2024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571F768-C4FF-438C-9893-EB83E21BC0C2}"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237237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2A88DE0-CA04-4363-B7F6-320D502B7F8A}" type="datetimeFigureOut">
              <a:rPr lang="en-IN" smtClean="0"/>
              <a:t>29-11-2024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6978491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88DE0-CA04-4363-B7F6-320D502B7F8A}" type="datetimeFigureOut">
              <a:rPr lang="en-IN" smtClean="0"/>
              <a:t>29-11-2024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14661661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88DE0-CA04-4363-B7F6-320D502B7F8A}" type="datetimeFigureOut">
              <a:rPr lang="en-IN" smtClean="0"/>
              <a:t>29-11-2024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571F768-C4FF-438C-9893-EB83E21BC0C2}" type="slidenum">
              <a:rPr lang="en-IN" smtClean="0"/>
              <a:t>‹#›</a:t>
            </a:fld>
            <a:endParaRPr lang="en-IN"/>
          </a:p>
        </p:txBody>
      </p:sp>
    </p:spTree>
    <p:extLst>
      <p:ext uri="{BB962C8B-B14F-4D97-AF65-F5344CB8AC3E}">
        <p14:creationId xmlns:p14="http://schemas.microsoft.com/office/powerpoint/2010/main" val="3224043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2A88DE0-CA04-4363-B7F6-320D502B7F8A}" type="datetimeFigureOut">
              <a:rPr lang="en-IN" smtClean="0"/>
              <a:t>29-11-2024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571F768-C4FF-438C-9893-EB83E21BC0C2}" type="slidenum">
              <a:rPr lang="en-IN" smtClean="0"/>
              <a:t>‹#›</a:t>
            </a:fld>
            <a:endParaRPr lang="en-IN"/>
          </a:p>
        </p:txBody>
      </p:sp>
    </p:spTree>
    <p:extLst>
      <p:ext uri="{BB962C8B-B14F-4D97-AF65-F5344CB8AC3E}">
        <p14:creationId xmlns:p14="http://schemas.microsoft.com/office/powerpoint/2010/main" val="159790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reddyshreyas9.wixsite.com/my-site-8"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129856-4F9E-F571-815F-B608642532BD}"/>
              </a:ext>
            </a:extLst>
          </p:cNvPr>
          <p:cNvSpPr txBox="1"/>
          <p:nvPr/>
        </p:nvSpPr>
        <p:spPr>
          <a:xfrm>
            <a:off x="2104103" y="2025585"/>
            <a:ext cx="7983793" cy="2246769"/>
          </a:xfrm>
          <a:prstGeom prst="rect">
            <a:avLst/>
          </a:prstGeom>
          <a:noFill/>
        </p:spPr>
        <p:txBody>
          <a:bodyPr wrap="square" rtlCol="0">
            <a:spAutoFit/>
          </a:bodyPr>
          <a:lstStyle/>
          <a:p>
            <a:pPr algn="ctr"/>
            <a:r>
              <a:rPr lang="en-US" sz="2800" b="1" i="0" u="none" strike="noStrike" dirty="0">
                <a:solidFill>
                  <a:srgbClr val="000000"/>
                </a:solidFill>
                <a:effectLst/>
                <a:latin typeface="Arial" panose="020B0604020202020204" pitchFamily="34" charset="0"/>
              </a:rPr>
              <a:t>Crafting &amp; Compelling Website Analysis, Audit and Recommendations for Apple</a:t>
            </a:r>
          </a:p>
          <a:p>
            <a:pPr algn="ctr"/>
            <a:endParaRPr lang="en-US" sz="2800" b="1" dirty="0">
              <a:solidFill>
                <a:srgbClr val="000000"/>
              </a:solidFill>
              <a:latin typeface="Arial" panose="020B0604020202020204" pitchFamily="34" charset="0"/>
            </a:endParaRPr>
          </a:p>
          <a:p>
            <a:pPr algn="ctr"/>
            <a:r>
              <a:rPr lang="en-US" sz="2800" b="1" dirty="0">
                <a:solidFill>
                  <a:srgbClr val="000000"/>
                </a:solidFill>
                <a:latin typeface="Arial" panose="020B0604020202020204" pitchFamily="34" charset="0"/>
              </a:rPr>
              <a:t>SHREYAS REDDY KANTHAREDDY</a:t>
            </a:r>
            <a:endParaRPr lang="en-IN" sz="2800" dirty="0"/>
          </a:p>
          <a:p>
            <a:pPr algn="ctr"/>
            <a:endParaRPr lang="en-IN" sz="2800" dirty="0"/>
          </a:p>
        </p:txBody>
      </p:sp>
    </p:spTree>
    <p:extLst>
      <p:ext uri="{BB962C8B-B14F-4D97-AF65-F5344CB8AC3E}">
        <p14:creationId xmlns:p14="http://schemas.microsoft.com/office/powerpoint/2010/main" val="2387807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2D70A5-A333-9C00-F3C4-8366670E15B8}"/>
              </a:ext>
            </a:extLst>
          </p:cNvPr>
          <p:cNvSpPr txBox="1"/>
          <p:nvPr/>
        </p:nvSpPr>
        <p:spPr>
          <a:xfrm>
            <a:off x="1721185" y="1964100"/>
            <a:ext cx="4020853" cy="4247317"/>
          </a:xfrm>
          <a:prstGeom prst="rect">
            <a:avLst/>
          </a:prstGeom>
          <a:noFill/>
          <a:ln>
            <a:solidFill>
              <a:schemeClr val="tx1"/>
            </a:solidFill>
          </a:ln>
        </p:spPr>
        <p:txBody>
          <a:bodyPr wrap="square" rtlCol="0">
            <a:spAutoFit/>
          </a:bodyPr>
          <a:lstStyle/>
          <a:p>
            <a:pPr algn="just"/>
            <a:r>
              <a:rPr lang="en-US" dirty="0">
                <a:latin typeface="Arial" panose="020B0604020202020204" pitchFamily="34" charset="0"/>
                <a:cs typeface="Arial" panose="020B0604020202020204" pitchFamily="34" charset="0"/>
              </a:rPr>
              <a:t>Apple Inc. is a global technology leader, best known for its innovative products like the iPhone, MacBook, iPhone and Apple Watch. Founded in 1976 by Steve Jobs, Steve Wozniak, and Ronald Wayne, Apple combines sleek design, cutting-edge technology, and a seamless ecosystem of devices and services to deliver exceptional user experiences. The company also leads in software innovation, offering operating systems like iOS and macOS, alongside services such as iCloud, Apple Music, and the App Store.</a:t>
            </a:r>
            <a:endParaRPr lang="en-IN"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72D3076C-8562-16D1-4C06-9625AD730A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7678" y="2662082"/>
            <a:ext cx="5702710" cy="2851355"/>
          </a:xfrm>
          <a:prstGeom prst="rect">
            <a:avLst/>
          </a:prstGeom>
          <a:ln>
            <a:solidFill>
              <a:schemeClr val="tx1"/>
            </a:solidFill>
          </a:ln>
        </p:spPr>
      </p:pic>
      <p:sp>
        <p:nvSpPr>
          <p:cNvPr id="5" name="TextBox 4">
            <a:extLst>
              <a:ext uri="{FF2B5EF4-FFF2-40B4-BE49-F238E27FC236}">
                <a16:creationId xmlns:a16="http://schemas.microsoft.com/office/drawing/2014/main" id="{536196E3-3EC1-559C-9078-E73B3AC50E63}"/>
              </a:ext>
            </a:extLst>
          </p:cNvPr>
          <p:cNvSpPr txBox="1"/>
          <p:nvPr/>
        </p:nvSpPr>
        <p:spPr>
          <a:xfrm>
            <a:off x="1721185" y="766915"/>
            <a:ext cx="5623512" cy="400110"/>
          </a:xfrm>
          <a:prstGeom prst="rect">
            <a:avLst/>
          </a:prstGeom>
          <a:noFill/>
          <a:ln>
            <a:solidFill>
              <a:schemeClr val="tx1"/>
            </a:solidFill>
          </a:ln>
        </p:spPr>
        <p:txBody>
          <a:bodyPr wrap="square" rtlCol="0">
            <a:spAutoFit/>
          </a:bodyPr>
          <a:lstStyle>
            <a:defPPr>
              <a:defRPr lang="en-US"/>
            </a:defPPr>
            <a:lvl1pPr algn="just">
              <a:defRPr sz="2000">
                <a:latin typeface="Arial" panose="020B0604020202020204" pitchFamily="34" charset="0"/>
                <a:cs typeface="Arial" panose="020B0604020202020204" pitchFamily="34" charset="0"/>
              </a:defRPr>
            </a:lvl1pPr>
          </a:lstStyle>
          <a:p>
            <a:r>
              <a:rPr lang="en-US" dirty="0"/>
              <a:t>Task 1: Company selection for the web analysis</a:t>
            </a:r>
            <a:endParaRPr lang="en-IN" dirty="0"/>
          </a:p>
        </p:txBody>
      </p:sp>
    </p:spTree>
    <p:extLst>
      <p:ext uri="{BB962C8B-B14F-4D97-AF65-F5344CB8AC3E}">
        <p14:creationId xmlns:p14="http://schemas.microsoft.com/office/powerpoint/2010/main" val="1742680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DB419F-ECE1-A298-6249-B72ED195D249}"/>
              </a:ext>
            </a:extLst>
          </p:cNvPr>
          <p:cNvSpPr txBox="1"/>
          <p:nvPr/>
        </p:nvSpPr>
        <p:spPr>
          <a:xfrm>
            <a:off x="1721185" y="757083"/>
            <a:ext cx="5623512" cy="400110"/>
          </a:xfrm>
          <a:prstGeom prst="rect">
            <a:avLst/>
          </a:prstGeom>
          <a:noFill/>
          <a:ln>
            <a:solidFill>
              <a:schemeClr val="tx1"/>
            </a:solidFill>
          </a:ln>
        </p:spPr>
        <p:txBody>
          <a:bodyPr wrap="square" rtlCol="0">
            <a:spAutoFit/>
          </a:bodyPr>
          <a:lstStyle>
            <a:defPPr>
              <a:defRPr lang="en-US"/>
            </a:defPPr>
            <a:lvl1pPr algn="just">
              <a:defRPr sz="2000">
                <a:latin typeface="Arial" panose="020B0604020202020204" pitchFamily="34" charset="0"/>
                <a:cs typeface="Arial" panose="020B0604020202020204" pitchFamily="34" charset="0"/>
              </a:defRPr>
            </a:lvl1pPr>
          </a:lstStyle>
          <a:p>
            <a:r>
              <a:rPr lang="en-US" dirty="0"/>
              <a:t>Task 2: Product and Service Descriptions</a:t>
            </a:r>
            <a:endParaRPr lang="en-IN" dirty="0"/>
          </a:p>
        </p:txBody>
      </p:sp>
      <p:sp>
        <p:nvSpPr>
          <p:cNvPr id="8" name="TextBox 7">
            <a:extLst>
              <a:ext uri="{FF2B5EF4-FFF2-40B4-BE49-F238E27FC236}">
                <a16:creationId xmlns:a16="http://schemas.microsoft.com/office/drawing/2014/main" id="{ACEA00B0-35FB-B298-7959-F0B84370E84A}"/>
              </a:ext>
            </a:extLst>
          </p:cNvPr>
          <p:cNvSpPr txBox="1"/>
          <p:nvPr/>
        </p:nvSpPr>
        <p:spPr>
          <a:xfrm>
            <a:off x="1721185" y="1474839"/>
            <a:ext cx="9340105" cy="4524315"/>
          </a:xfrm>
          <a:prstGeom prst="rect">
            <a:avLst/>
          </a:prstGeom>
          <a:noFill/>
          <a:ln>
            <a:solidFill>
              <a:schemeClr val="tx1"/>
            </a:solidFill>
          </a:ln>
        </p:spPr>
        <p:txBody>
          <a:bodyPr wrap="square" rtlCol="0">
            <a:spAutoFit/>
          </a:bodyPr>
          <a:lstStyle/>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iPhone</a:t>
            </a:r>
            <a:r>
              <a:rPr kumimoji="0" lang="en-US" altLang="en-US" sz="1800" b="0" i="0" u="none" strike="noStrike" cap="none" normalizeH="0" baseline="0" dirty="0">
                <a:ln>
                  <a:noFill/>
                </a:ln>
                <a:solidFill>
                  <a:schemeClr val="tx1"/>
                </a:solidFill>
                <a:effectLst/>
                <a:latin typeface="Arial" panose="020B0604020202020204" pitchFamily="34" charset="0"/>
              </a:rPr>
              <a:t>: Apple's flagship smartphone, combining advanced technology, high-resolution cameras, and the iOS ecosystem for a seamless user experience.</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iPad</a:t>
            </a:r>
            <a:r>
              <a:rPr kumimoji="0" lang="en-US" altLang="en-US" sz="1800" b="0" i="0" u="none" strike="noStrike" cap="none" normalizeH="0" baseline="0" dirty="0">
                <a:ln>
                  <a:noFill/>
                </a:ln>
                <a:solidFill>
                  <a:schemeClr val="tx1"/>
                </a:solidFill>
                <a:effectLst/>
                <a:latin typeface="Arial" panose="020B0604020202020204" pitchFamily="34" charset="0"/>
              </a:rPr>
              <a:t>: A versatile tablet designed for creativity, productivity, and entertainment, offering powerful performance and compatibility with the Apple Pencil. </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MacBook</a:t>
            </a:r>
            <a:r>
              <a:rPr kumimoji="0" lang="en-US" altLang="en-US" sz="1800" b="0" i="0" u="none" strike="noStrike" cap="none" normalizeH="0" baseline="0" dirty="0">
                <a:ln>
                  <a:noFill/>
                </a:ln>
                <a:solidFill>
                  <a:schemeClr val="tx1"/>
                </a:solidFill>
                <a:effectLst/>
                <a:latin typeface="Arial" panose="020B0604020202020204" pitchFamily="34" charset="0"/>
              </a:rPr>
              <a:t>: A line of premium laptops with Retina displays and M-series chips, designed for exceptional speed, battery life, and macOS integration.</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AirPods</a:t>
            </a:r>
            <a:r>
              <a:rPr kumimoji="0" lang="en-US" altLang="en-US" sz="1800" b="0" i="0" u="none" strike="noStrike" cap="none" normalizeH="0" baseline="0" dirty="0">
                <a:ln>
                  <a:noFill/>
                </a:ln>
                <a:solidFill>
                  <a:schemeClr val="tx1"/>
                </a:solidFill>
                <a:effectLst/>
                <a:latin typeface="Arial" panose="020B0604020202020204" pitchFamily="34" charset="0"/>
              </a:rPr>
              <a:t>: Wireless earbuds featuring immersive sound, noise cancellation, and effortless connectivity with Apple devices.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Apple Watch</a:t>
            </a:r>
            <a:r>
              <a:rPr kumimoji="0" lang="en-US" altLang="en-US" sz="1800" b="0" i="0" u="none" strike="noStrike" cap="none" normalizeH="0" baseline="0" dirty="0">
                <a:ln>
                  <a:noFill/>
                </a:ln>
                <a:solidFill>
                  <a:schemeClr val="tx1"/>
                </a:solidFill>
                <a:effectLst/>
                <a:latin typeface="Arial" panose="020B0604020202020204" pitchFamily="34" charset="0"/>
              </a:rPr>
              <a:t>: A wearable device for health, fitness, and staying connected, offering features like heart rate monitoring and customizable bands. </a:t>
            </a:r>
          </a:p>
          <a:p>
            <a:endParaRPr lang="en-IN" dirty="0"/>
          </a:p>
        </p:txBody>
      </p:sp>
    </p:spTree>
    <p:extLst>
      <p:ext uri="{BB962C8B-B14F-4D97-AF65-F5344CB8AC3E}">
        <p14:creationId xmlns:p14="http://schemas.microsoft.com/office/powerpoint/2010/main" val="3170754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23DFE2A-0B08-CEC5-7EF1-9467F1B435EE}"/>
              </a:ext>
            </a:extLst>
          </p:cNvPr>
          <p:cNvSpPr txBox="1"/>
          <p:nvPr/>
        </p:nvSpPr>
        <p:spPr>
          <a:xfrm>
            <a:off x="1711351" y="796413"/>
            <a:ext cx="7098351" cy="400110"/>
          </a:xfrm>
          <a:prstGeom prst="rect">
            <a:avLst/>
          </a:prstGeom>
          <a:noFill/>
          <a:ln>
            <a:solidFill>
              <a:schemeClr val="tx1"/>
            </a:solidFill>
          </a:ln>
        </p:spPr>
        <p:txBody>
          <a:bodyPr wrap="square" rtlCol="0">
            <a:spAutoFit/>
          </a:bodyPr>
          <a:lstStyle>
            <a:defPPr>
              <a:defRPr lang="en-US"/>
            </a:defPPr>
            <a:lvl1pPr algn="just">
              <a:defRPr sz="2000">
                <a:latin typeface="Arial" panose="020B0604020202020204" pitchFamily="34" charset="0"/>
                <a:cs typeface="Arial" panose="020B0604020202020204" pitchFamily="34" charset="0"/>
              </a:defRPr>
            </a:lvl1pPr>
          </a:lstStyle>
          <a:p>
            <a:r>
              <a:rPr lang="en-US" dirty="0"/>
              <a:t>Task 3: Website Platform Identification using Wappalyzer</a:t>
            </a:r>
            <a:endParaRPr lang="en-IN" dirty="0"/>
          </a:p>
        </p:txBody>
      </p:sp>
      <p:sp>
        <p:nvSpPr>
          <p:cNvPr id="5" name="TextBox 4">
            <a:extLst>
              <a:ext uri="{FF2B5EF4-FFF2-40B4-BE49-F238E27FC236}">
                <a16:creationId xmlns:a16="http://schemas.microsoft.com/office/drawing/2014/main" id="{219E99A5-0CC4-3228-D9A5-47A1F806E4E2}"/>
              </a:ext>
            </a:extLst>
          </p:cNvPr>
          <p:cNvSpPr txBox="1"/>
          <p:nvPr/>
        </p:nvSpPr>
        <p:spPr>
          <a:xfrm>
            <a:off x="1711352" y="1563329"/>
            <a:ext cx="8189732" cy="3365024"/>
          </a:xfrm>
          <a:prstGeom prst="rect">
            <a:avLst/>
          </a:prstGeom>
          <a:noFill/>
          <a:ln>
            <a:solidFill>
              <a:schemeClr val="tx1"/>
            </a:solidFill>
          </a:ln>
        </p:spPr>
        <p:txBody>
          <a:bodyPr wrap="square" rtlCol="0">
            <a:spAutoFit/>
          </a:bodyPr>
          <a:lstStyle>
            <a:defPPr>
              <a:defRPr lang="en-US"/>
            </a:defPPr>
            <a:lvl1pPr algn="just">
              <a:defRPr sz="2000">
                <a:latin typeface="Arial" panose="020B0604020202020204" pitchFamily="34" charset="0"/>
                <a:cs typeface="Arial" panose="020B0604020202020204" pitchFamily="34" charset="0"/>
              </a:defRPr>
            </a:lvl1pPr>
          </a:lstStyle>
          <a:p>
            <a:pPr marL="457200" indent="-457200">
              <a:lnSpc>
                <a:spcPct val="150000"/>
              </a:lnSpc>
              <a:buFont typeface="+mj-lt"/>
              <a:buAutoNum type="arabicPeriod"/>
            </a:pPr>
            <a:r>
              <a:rPr lang="en-US" sz="1800" dirty="0"/>
              <a:t>Static Site Generators or Frameworks: Next.js(14.2.14)</a:t>
            </a:r>
          </a:p>
          <a:p>
            <a:pPr marL="457200" indent="-457200">
              <a:lnSpc>
                <a:spcPct val="150000"/>
              </a:lnSpc>
              <a:buFont typeface="+mj-lt"/>
              <a:buAutoNum type="arabicPeriod"/>
            </a:pPr>
            <a:r>
              <a:rPr lang="en-US" sz="1800" dirty="0"/>
              <a:t>Content Management System (CMS): Adobe Experience Manager</a:t>
            </a:r>
          </a:p>
          <a:p>
            <a:pPr marL="457200" indent="-457200">
              <a:lnSpc>
                <a:spcPct val="150000"/>
              </a:lnSpc>
              <a:buFont typeface="+mj-lt"/>
              <a:buAutoNum type="arabicPeriod"/>
            </a:pPr>
            <a:r>
              <a:rPr lang="en-IN" sz="1800" dirty="0"/>
              <a:t>Programming </a:t>
            </a:r>
            <a:r>
              <a:rPr lang="en-US" sz="1800" dirty="0"/>
              <a:t>Language: Java and GraphQL</a:t>
            </a:r>
          </a:p>
          <a:p>
            <a:pPr marL="457200" indent="-457200">
              <a:lnSpc>
                <a:spcPct val="150000"/>
              </a:lnSpc>
              <a:buFont typeface="+mj-lt"/>
              <a:buAutoNum type="arabicPeriod"/>
            </a:pPr>
            <a:r>
              <a:rPr lang="en-IN" sz="1800" dirty="0"/>
              <a:t>Web server : Next.js (14.2.14)</a:t>
            </a:r>
          </a:p>
          <a:p>
            <a:pPr marL="457200" indent="-457200">
              <a:lnSpc>
                <a:spcPct val="150000"/>
              </a:lnSpc>
              <a:buFont typeface="+mj-lt"/>
              <a:buAutoNum type="arabicPeriod"/>
            </a:pPr>
            <a:r>
              <a:rPr lang="en-IN" sz="1800" dirty="0"/>
              <a:t>Security : HSTS (HTTP Strict Transport Security)</a:t>
            </a:r>
          </a:p>
          <a:p>
            <a:pPr marL="457200" indent="-457200">
              <a:lnSpc>
                <a:spcPct val="150000"/>
              </a:lnSpc>
              <a:buFont typeface="+mj-lt"/>
              <a:buAutoNum type="arabicPeriod"/>
            </a:pPr>
            <a:r>
              <a:rPr lang="en-US" sz="1800" dirty="0"/>
              <a:t>Analytics : Adobe Analytics</a:t>
            </a:r>
          </a:p>
          <a:p>
            <a:pPr marL="457200" indent="-457200">
              <a:lnSpc>
                <a:spcPct val="150000"/>
              </a:lnSpc>
              <a:buFont typeface="+mj-lt"/>
              <a:buAutoNum type="arabicPeriod"/>
            </a:pPr>
            <a:r>
              <a:rPr lang="en-US" sz="1800" dirty="0"/>
              <a:t>Font scripts : Google Font API</a:t>
            </a:r>
          </a:p>
          <a:p>
            <a:pPr marL="457200" indent="-457200">
              <a:lnSpc>
                <a:spcPct val="150000"/>
              </a:lnSpc>
              <a:buFont typeface="+mj-lt"/>
              <a:buAutoNum type="arabicPeriod"/>
            </a:pPr>
            <a:endParaRPr lang="en-IN" sz="1800" dirty="0"/>
          </a:p>
        </p:txBody>
      </p:sp>
    </p:spTree>
    <p:extLst>
      <p:ext uri="{BB962C8B-B14F-4D97-AF65-F5344CB8AC3E}">
        <p14:creationId xmlns:p14="http://schemas.microsoft.com/office/powerpoint/2010/main" val="1893461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D73C3E-02CD-0E7C-A7CF-6EB95AEE831B}"/>
              </a:ext>
            </a:extLst>
          </p:cNvPr>
          <p:cNvSpPr txBox="1"/>
          <p:nvPr/>
        </p:nvSpPr>
        <p:spPr>
          <a:xfrm>
            <a:off x="1721184" y="692552"/>
            <a:ext cx="6026636" cy="400110"/>
          </a:xfrm>
          <a:prstGeom prst="rect">
            <a:avLst/>
          </a:prstGeom>
          <a:noFill/>
          <a:ln>
            <a:solidFill>
              <a:schemeClr val="tx1"/>
            </a:solidFill>
          </a:ln>
        </p:spPr>
        <p:txBody>
          <a:bodyPr wrap="square" rtlCol="0">
            <a:spAutoFit/>
          </a:bodyPr>
          <a:lstStyle>
            <a:defPPr>
              <a:defRPr lang="en-US"/>
            </a:defPPr>
            <a:lvl1pPr algn="just">
              <a:defRPr sz="2000">
                <a:latin typeface="Arial" panose="020B0604020202020204" pitchFamily="34" charset="0"/>
                <a:cs typeface="Arial" panose="020B0604020202020204" pitchFamily="34" charset="0"/>
              </a:defRPr>
            </a:lvl1pPr>
          </a:lstStyle>
          <a:p>
            <a:r>
              <a:rPr lang="en-US" dirty="0"/>
              <a:t>Task 4: Responsive Design Testing using Gtmetrix</a:t>
            </a:r>
          </a:p>
        </p:txBody>
      </p:sp>
      <p:sp>
        <p:nvSpPr>
          <p:cNvPr id="5" name="TextBox 4">
            <a:extLst>
              <a:ext uri="{FF2B5EF4-FFF2-40B4-BE49-F238E27FC236}">
                <a16:creationId xmlns:a16="http://schemas.microsoft.com/office/drawing/2014/main" id="{9E401126-1C03-0EC2-BF8C-DD35AF1DDD41}"/>
              </a:ext>
            </a:extLst>
          </p:cNvPr>
          <p:cNvSpPr txBox="1"/>
          <p:nvPr/>
        </p:nvSpPr>
        <p:spPr>
          <a:xfrm>
            <a:off x="1721184" y="1828799"/>
            <a:ext cx="9222659" cy="4611519"/>
          </a:xfrm>
          <a:prstGeom prst="rect">
            <a:avLst/>
          </a:prstGeom>
          <a:noFill/>
          <a:ln>
            <a:solidFill>
              <a:schemeClr val="tx1"/>
            </a:solidFill>
          </a:ln>
        </p:spPr>
        <p:txBody>
          <a:bodyPr wrap="square" rtlCol="0">
            <a:spAutoFit/>
          </a:bodyPr>
          <a:lstStyle/>
          <a:p>
            <a:pPr algn="just">
              <a:lnSpc>
                <a:spcPct val="150000"/>
              </a:lnSpc>
            </a:pPr>
            <a:r>
              <a:rPr lang="en-US" dirty="0">
                <a:latin typeface="Arial" panose="020B0604020202020204" pitchFamily="34" charset="0"/>
                <a:cs typeface="Arial" panose="020B0604020202020204" pitchFamily="34" charset="0"/>
              </a:rPr>
              <a:t>Pages tested :</a:t>
            </a:r>
          </a:p>
          <a:p>
            <a:pPr marL="342900" indent="-342900" algn="just">
              <a:lnSpc>
                <a:spcPct val="150000"/>
              </a:lnSpc>
              <a:buFont typeface="+mj-lt"/>
              <a:buAutoNum type="arabicPeriod"/>
            </a:pPr>
            <a:r>
              <a:rPr lang="en-US" dirty="0">
                <a:latin typeface="Arial" panose="020B0604020202020204" pitchFamily="34" charset="0"/>
                <a:cs typeface="Arial" panose="020B0604020202020204" pitchFamily="34" charset="0"/>
              </a:rPr>
              <a:t>Home page: It is a mobile friendly page, but the speed index is a bit longer(1.8s) than recommended(1.3s). There were 18 render-blocking requests. </a:t>
            </a:r>
          </a:p>
          <a:p>
            <a:pPr marL="342900" indent="-342900" algn="just">
              <a:lnSpc>
                <a:spcPct val="150000"/>
              </a:lnSpc>
              <a:buFont typeface="+mj-lt"/>
              <a:buAutoNum type="arabicPeriod"/>
            </a:pPr>
            <a:r>
              <a:rPr lang="en-US" dirty="0">
                <a:latin typeface="Arial" panose="020B0604020202020204" pitchFamily="34" charset="0"/>
                <a:cs typeface="Arial" panose="020B0604020202020204" pitchFamily="34" charset="0"/>
              </a:rPr>
              <a:t>Mac page: The speed index is very poor with 7.0s this used to know how quickly the contents of your page are visibly populated. The first contentful paint appear at 1.8s. </a:t>
            </a:r>
          </a:p>
          <a:p>
            <a:pPr marL="342900" indent="-342900" algn="just">
              <a:lnSpc>
                <a:spcPct val="150000"/>
              </a:lnSpc>
              <a:buFont typeface="+mj-lt"/>
              <a:buAutoNum type="arabicPeriod"/>
            </a:pPr>
            <a:r>
              <a:rPr lang="en-US" dirty="0">
                <a:latin typeface="Arial" panose="020B0604020202020204" pitchFamily="34" charset="0"/>
                <a:cs typeface="Arial" panose="020B0604020202020204" pitchFamily="34" charset="0"/>
              </a:rPr>
              <a:t>iPhone page: The performance is very poor with 39%. The page takes 7.1s to become fully interactive where a good user experience is 2.5s or less.</a:t>
            </a:r>
          </a:p>
          <a:p>
            <a:pPr marL="342900" indent="-342900" algn="just">
              <a:lnSpc>
                <a:spcPct val="150000"/>
              </a:lnSpc>
              <a:buFont typeface="+mj-lt"/>
              <a:buAutoNum type="arabicPeriod"/>
            </a:pPr>
            <a:r>
              <a:rPr lang="en-US" dirty="0">
                <a:latin typeface="Arial" panose="020B0604020202020204" pitchFamily="34" charset="0"/>
                <a:cs typeface="Arial" panose="020B0604020202020204" pitchFamily="34" charset="0"/>
              </a:rPr>
              <a:t>iPad page: The overall performance is very bad with 36%. FCP is 2.1s, speed index is 8.9s, LCP is 3.1s, and time to interactive is 4.9s.</a:t>
            </a:r>
          </a:p>
          <a:p>
            <a:pPr marL="342900" indent="-342900" algn="just">
              <a:lnSpc>
                <a:spcPct val="150000"/>
              </a:lnSpc>
              <a:buFont typeface="+mj-lt"/>
              <a:buAutoNum type="arabicPeriod"/>
            </a:pPr>
            <a:r>
              <a:rPr lang="en-US" dirty="0">
                <a:latin typeface="Arial" panose="020B0604020202020204" pitchFamily="34" charset="0"/>
                <a:cs typeface="Arial" panose="020B0604020202020204" pitchFamily="34" charset="0"/>
              </a:rPr>
              <a:t>Apple watch: Gtmetrix grade is E and the perforce is 46%. It takes 4.1s to load the page fully.</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CB9E3B5-25A5-A276-AD99-6AAA04344460}"/>
              </a:ext>
            </a:extLst>
          </p:cNvPr>
          <p:cNvSpPr txBox="1"/>
          <p:nvPr/>
        </p:nvSpPr>
        <p:spPr>
          <a:xfrm>
            <a:off x="8957187" y="692552"/>
            <a:ext cx="3087329" cy="830997"/>
          </a:xfrm>
          <a:prstGeom prst="rect">
            <a:avLst/>
          </a:prstGeom>
          <a:noFill/>
          <a:ln>
            <a:solidFill>
              <a:schemeClr val="tx1"/>
            </a:solidFill>
          </a:ln>
        </p:spPr>
        <p:txBody>
          <a:bodyPr wrap="square" rtlCol="0">
            <a:spAutoFit/>
          </a:bodyPr>
          <a:lstStyle/>
          <a:p>
            <a:r>
              <a:rPr lang="en-US" sz="1200" dirty="0">
                <a:latin typeface="Arial" panose="020B0604020202020204" pitchFamily="34" charset="0"/>
                <a:cs typeface="Arial" panose="020B0604020202020204" pitchFamily="34" charset="0"/>
              </a:rPr>
              <a:t>FCP(first contenful paint): 0.9 or less</a:t>
            </a:r>
          </a:p>
          <a:p>
            <a:r>
              <a:rPr lang="en-US" sz="1200" dirty="0">
                <a:latin typeface="Arial" panose="020B0604020202020204" pitchFamily="34" charset="0"/>
                <a:cs typeface="Arial" panose="020B0604020202020204" pitchFamily="34" charset="0"/>
              </a:rPr>
              <a:t>Speed index : 1.3s or less</a:t>
            </a:r>
          </a:p>
          <a:p>
            <a:r>
              <a:rPr lang="en-US" sz="1200" dirty="0">
                <a:latin typeface="Arial" panose="020B0604020202020204" pitchFamily="34" charset="0"/>
                <a:cs typeface="Arial" panose="020B0604020202020204" pitchFamily="34" charset="0"/>
              </a:rPr>
              <a:t>LCP(largest contentful paint): 1.2s or less</a:t>
            </a:r>
          </a:p>
          <a:p>
            <a:r>
              <a:rPr lang="en-US" sz="1200" dirty="0">
                <a:latin typeface="Arial" panose="020B0604020202020204" pitchFamily="34" charset="0"/>
                <a:cs typeface="Arial" panose="020B0604020202020204" pitchFamily="34" charset="0"/>
              </a:rPr>
              <a:t>Time to interactive: 2.5s or less</a:t>
            </a:r>
            <a:endParaRPr lang="en-IN"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5050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1E2B3E-9BB1-EAA0-42F2-4BD07B91245D}"/>
              </a:ext>
            </a:extLst>
          </p:cNvPr>
          <p:cNvSpPr txBox="1"/>
          <p:nvPr/>
        </p:nvSpPr>
        <p:spPr>
          <a:xfrm>
            <a:off x="1721184" y="692552"/>
            <a:ext cx="6026636" cy="400110"/>
          </a:xfrm>
          <a:prstGeom prst="rect">
            <a:avLst/>
          </a:prstGeom>
          <a:noFill/>
          <a:ln>
            <a:solidFill>
              <a:schemeClr val="tx1"/>
            </a:solidFill>
          </a:ln>
        </p:spPr>
        <p:txBody>
          <a:bodyPr wrap="square" rtlCol="0">
            <a:spAutoFit/>
          </a:bodyPr>
          <a:lstStyle>
            <a:defPPr>
              <a:defRPr lang="en-US"/>
            </a:defPPr>
            <a:lvl1pPr algn="just">
              <a:defRPr sz="2000">
                <a:latin typeface="Arial" panose="020B0604020202020204" pitchFamily="34" charset="0"/>
                <a:cs typeface="Arial" panose="020B0604020202020204" pitchFamily="34" charset="0"/>
              </a:defRPr>
            </a:lvl1pPr>
          </a:lstStyle>
          <a:p>
            <a:r>
              <a:rPr lang="en-US" dirty="0"/>
              <a:t>Task 4: Responsive Design Testing using Gtmetrix</a:t>
            </a:r>
          </a:p>
        </p:txBody>
      </p:sp>
      <p:pic>
        <p:nvPicPr>
          <p:cNvPr id="4" name="Picture 3">
            <a:extLst>
              <a:ext uri="{FF2B5EF4-FFF2-40B4-BE49-F238E27FC236}">
                <a16:creationId xmlns:a16="http://schemas.microsoft.com/office/drawing/2014/main" id="{16F4674D-5466-E2F9-3B54-D91B662F95B1}"/>
              </a:ext>
            </a:extLst>
          </p:cNvPr>
          <p:cNvPicPr>
            <a:picLocks noChangeAspect="1"/>
          </p:cNvPicPr>
          <p:nvPr/>
        </p:nvPicPr>
        <p:blipFill>
          <a:blip r:embed="rId2"/>
          <a:stretch>
            <a:fillRect/>
          </a:stretch>
        </p:blipFill>
        <p:spPr>
          <a:xfrm>
            <a:off x="1" y="3156156"/>
            <a:ext cx="6538452" cy="3701844"/>
          </a:xfrm>
          <a:prstGeom prst="rect">
            <a:avLst/>
          </a:prstGeom>
          <a:ln>
            <a:solidFill>
              <a:schemeClr val="tx1"/>
            </a:solidFill>
          </a:ln>
        </p:spPr>
      </p:pic>
      <p:pic>
        <p:nvPicPr>
          <p:cNvPr id="6" name="Picture 5">
            <a:extLst>
              <a:ext uri="{FF2B5EF4-FFF2-40B4-BE49-F238E27FC236}">
                <a16:creationId xmlns:a16="http://schemas.microsoft.com/office/drawing/2014/main" id="{D7A9B6A4-3F3C-3E25-08C1-235EADBBAEFC}"/>
              </a:ext>
            </a:extLst>
          </p:cNvPr>
          <p:cNvPicPr>
            <a:picLocks noChangeAspect="1"/>
          </p:cNvPicPr>
          <p:nvPr/>
        </p:nvPicPr>
        <p:blipFill>
          <a:blip r:embed="rId3"/>
          <a:stretch>
            <a:fillRect/>
          </a:stretch>
        </p:blipFill>
        <p:spPr>
          <a:xfrm>
            <a:off x="0" y="1258529"/>
            <a:ext cx="6538452" cy="1806097"/>
          </a:xfrm>
          <a:prstGeom prst="rect">
            <a:avLst/>
          </a:prstGeom>
          <a:ln>
            <a:solidFill>
              <a:schemeClr val="tx1"/>
            </a:solidFill>
          </a:ln>
        </p:spPr>
      </p:pic>
      <p:pic>
        <p:nvPicPr>
          <p:cNvPr id="8" name="Picture 7">
            <a:extLst>
              <a:ext uri="{FF2B5EF4-FFF2-40B4-BE49-F238E27FC236}">
                <a16:creationId xmlns:a16="http://schemas.microsoft.com/office/drawing/2014/main" id="{6B6F7DE0-21AE-E8AF-DBC6-8BFE175941B8}"/>
              </a:ext>
            </a:extLst>
          </p:cNvPr>
          <p:cNvPicPr>
            <a:picLocks noChangeAspect="1"/>
          </p:cNvPicPr>
          <p:nvPr/>
        </p:nvPicPr>
        <p:blipFill>
          <a:blip r:embed="rId4"/>
          <a:stretch>
            <a:fillRect/>
          </a:stretch>
        </p:blipFill>
        <p:spPr>
          <a:xfrm>
            <a:off x="6656439" y="1270186"/>
            <a:ext cx="5535560" cy="5587814"/>
          </a:xfrm>
          <a:prstGeom prst="rect">
            <a:avLst/>
          </a:prstGeom>
          <a:ln>
            <a:solidFill>
              <a:schemeClr val="tx1"/>
            </a:solidFill>
          </a:ln>
        </p:spPr>
      </p:pic>
    </p:spTree>
    <p:extLst>
      <p:ext uri="{BB962C8B-B14F-4D97-AF65-F5344CB8AC3E}">
        <p14:creationId xmlns:p14="http://schemas.microsoft.com/office/powerpoint/2010/main" val="1005085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EF6E8E-CEEE-1DC4-2FA5-7501DA0AD5A1}"/>
              </a:ext>
            </a:extLst>
          </p:cNvPr>
          <p:cNvSpPr txBox="1"/>
          <p:nvPr/>
        </p:nvSpPr>
        <p:spPr>
          <a:xfrm>
            <a:off x="1721184" y="692552"/>
            <a:ext cx="6026636" cy="400110"/>
          </a:xfrm>
          <a:prstGeom prst="rect">
            <a:avLst/>
          </a:prstGeom>
          <a:noFill/>
          <a:ln>
            <a:solidFill>
              <a:schemeClr val="tx1"/>
            </a:solidFill>
          </a:ln>
        </p:spPr>
        <p:txBody>
          <a:bodyPr wrap="square" rtlCol="0">
            <a:spAutoFit/>
          </a:bodyPr>
          <a:lstStyle>
            <a:defPPr>
              <a:defRPr lang="en-US"/>
            </a:defPPr>
            <a:lvl1pPr algn="just">
              <a:defRPr sz="2000">
                <a:latin typeface="Arial" panose="020B0604020202020204" pitchFamily="34" charset="0"/>
                <a:cs typeface="Arial" panose="020B0604020202020204" pitchFamily="34" charset="0"/>
              </a:defRPr>
            </a:lvl1pPr>
          </a:lstStyle>
          <a:p>
            <a:r>
              <a:rPr lang="en-US" dirty="0"/>
              <a:t>Task 5: Website Mistakes Identification</a:t>
            </a:r>
          </a:p>
        </p:txBody>
      </p:sp>
      <p:sp>
        <p:nvSpPr>
          <p:cNvPr id="3" name="TextBox 2">
            <a:extLst>
              <a:ext uri="{FF2B5EF4-FFF2-40B4-BE49-F238E27FC236}">
                <a16:creationId xmlns:a16="http://schemas.microsoft.com/office/drawing/2014/main" id="{0A91317B-5503-636D-63A1-68F5B404A6F7}"/>
              </a:ext>
            </a:extLst>
          </p:cNvPr>
          <p:cNvSpPr txBox="1"/>
          <p:nvPr/>
        </p:nvSpPr>
        <p:spPr>
          <a:xfrm>
            <a:off x="1721185" y="1543665"/>
            <a:ext cx="5082738" cy="4616648"/>
          </a:xfrm>
          <a:prstGeom prst="rect">
            <a:avLst/>
          </a:prstGeom>
          <a:no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Mistakes: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Slow loading time: Large network payloads (e.g., iPhone page: 9.39MB, Watch page: 4.50MB) mean the browser must download a lot of data, making the pages slower to load.</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Using excessive DOM Size : The DOM (Document Object Model) contains all the elements of a webpage. Pages like the iPhone page, with over 4,000 elements, are too complex for browsers to process efficiently. </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Increase in Render-Blocking Resources(includes JavaScript and CSS): It increases the time users wait for the page to become usable. </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Lack of Image Optimization: Unoptimized images lead to slower page speeds and higher data usage.</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Long main-thread tasks: Pages have long main-thread tasks (e.g., 1.2–1.5 seconds on iPhone and Watch pages), which delay rendering and interactivity.</a:t>
            </a:r>
          </a:p>
        </p:txBody>
      </p:sp>
      <p:sp>
        <p:nvSpPr>
          <p:cNvPr id="4" name="TextBox 3">
            <a:extLst>
              <a:ext uri="{FF2B5EF4-FFF2-40B4-BE49-F238E27FC236}">
                <a16:creationId xmlns:a16="http://schemas.microsoft.com/office/drawing/2014/main" id="{6F483F68-3F83-9A66-B90F-3C487B1D1F4B}"/>
              </a:ext>
            </a:extLst>
          </p:cNvPr>
          <p:cNvSpPr txBox="1"/>
          <p:nvPr/>
        </p:nvSpPr>
        <p:spPr>
          <a:xfrm>
            <a:off x="6986360" y="1543665"/>
            <a:ext cx="5082738" cy="1991379"/>
          </a:xfrm>
          <a:prstGeom prst="rect">
            <a:avLst/>
          </a:prstGeom>
          <a:noFill/>
          <a:ln>
            <a:solidFill>
              <a:schemeClr val="tx1"/>
            </a:solidFill>
          </a:ln>
        </p:spPr>
        <p:txBody>
          <a:bodyPr wrap="square" rtlCol="0">
            <a:spAutoFit/>
          </a:bodyPr>
          <a:lstStyle/>
          <a:p>
            <a:pPr>
              <a:lnSpc>
                <a:spcPct val="150000"/>
              </a:lnSpc>
            </a:pPr>
            <a:r>
              <a:rPr lang="en-US" sz="1400" dirty="0">
                <a:latin typeface="Arial" panose="020B0604020202020204" pitchFamily="34" charset="0"/>
                <a:cs typeface="Arial" panose="020B0604020202020204" pitchFamily="34" charset="0"/>
              </a:rPr>
              <a:t>Recommendations:</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Reduce file sizes</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Optimize videos by reducing resolution for smaller screens</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Minimize Dynamic Content </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Optimize the image quality</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Avoid long main-thread tasks</a:t>
            </a:r>
          </a:p>
        </p:txBody>
      </p:sp>
    </p:spTree>
    <p:extLst>
      <p:ext uri="{BB962C8B-B14F-4D97-AF65-F5344CB8AC3E}">
        <p14:creationId xmlns:p14="http://schemas.microsoft.com/office/powerpoint/2010/main" val="3151142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9AE804-D95B-D62B-A941-6C0749603F83}"/>
              </a:ext>
            </a:extLst>
          </p:cNvPr>
          <p:cNvSpPr txBox="1"/>
          <p:nvPr/>
        </p:nvSpPr>
        <p:spPr>
          <a:xfrm>
            <a:off x="1721184" y="692552"/>
            <a:ext cx="6026636" cy="400110"/>
          </a:xfrm>
          <a:prstGeom prst="rect">
            <a:avLst/>
          </a:prstGeom>
          <a:noFill/>
          <a:ln>
            <a:solidFill>
              <a:schemeClr val="tx1"/>
            </a:solidFill>
          </a:ln>
        </p:spPr>
        <p:txBody>
          <a:bodyPr wrap="square" rtlCol="0">
            <a:spAutoFit/>
          </a:bodyPr>
          <a:lstStyle>
            <a:defPPr>
              <a:defRPr lang="en-US"/>
            </a:defPPr>
            <a:lvl1pPr algn="just">
              <a:defRPr sz="2000">
                <a:latin typeface="Arial" panose="020B0604020202020204" pitchFamily="34" charset="0"/>
                <a:cs typeface="Arial" panose="020B0604020202020204" pitchFamily="34" charset="0"/>
              </a:defRPr>
            </a:lvl1pPr>
          </a:lstStyle>
          <a:p>
            <a:r>
              <a:rPr lang="en-US" dirty="0"/>
              <a:t>Task 6: Best Practices List</a:t>
            </a:r>
          </a:p>
        </p:txBody>
      </p:sp>
      <p:sp>
        <p:nvSpPr>
          <p:cNvPr id="3" name="TextBox 2">
            <a:extLst>
              <a:ext uri="{FF2B5EF4-FFF2-40B4-BE49-F238E27FC236}">
                <a16:creationId xmlns:a16="http://schemas.microsoft.com/office/drawing/2014/main" id="{F1C51FF9-F156-E5DA-34B2-3FA550BF72C4}"/>
              </a:ext>
            </a:extLst>
          </p:cNvPr>
          <p:cNvSpPr txBox="1"/>
          <p:nvPr/>
        </p:nvSpPr>
        <p:spPr>
          <a:xfrm>
            <a:off x="1721184" y="1544097"/>
            <a:ext cx="7481810" cy="4611519"/>
          </a:xfrm>
          <a:prstGeom prst="rect">
            <a:avLst/>
          </a:prstGeom>
          <a:noFill/>
          <a:ln>
            <a:solidFill>
              <a:schemeClr val="tx1"/>
            </a:solidFill>
          </a:ln>
        </p:spPr>
        <p:txBody>
          <a:bodyPr wrap="square" rtlCol="0">
            <a:spAutoFit/>
          </a:bodyPr>
          <a:lstStyle/>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Fast loading speed</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Responsive design (mobile-friendly)</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Better navigation (clear menu)</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Engaging and relevant content</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Better User Experience(UX) design</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Prominent Call-to-Action buttons</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Uniform branding across every page</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Good usage of keywords</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Collect feedback from visitors</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High-Quality Engaging Visuals</a:t>
            </a:r>
          </a:p>
          <a:p>
            <a:pPr marL="285750" indent="-285750" algn="just">
              <a:lnSpc>
                <a:spcPct val="150000"/>
              </a:lnSpc>
              <a:buFont typeface="Arial" panose="020B0604020202020204" pitchFamily="34" charset="0"/>
              <a:buChar char="•"/>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3173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38FFE6-0071-CCFB-D7CE-C092F803CBA3}"/>
              </a:ext>
            </a:extLst>
          </p:cNvPr>
          <p:cNvSpPr txBox="1"/>
          <p:nvPr/>
        </p:nvSpPr>
        <p:spPr>
          <a:xfrm>
            <a:off x="1721184" y="692552"/>
            <a:ext cx="6026636" cy="400110"/>
          </a:xfrm>
          <a:prstGeom prst="rect">
            <a:avLst/>
          </a:prstGeom>
          <a:noFill/>
          <a:ln>
            <a:solidFill>
              <a:schemeClr val="tx1"/>
            </a:solidFill>
          </a:ln>
        </p:spPr>
        <p:txBody>
          <a:bodyPr wrap="square" rtlCol="0">
            <a:spAutoFit/>
          </a:bodyPr>
          <a:lstStyle>
            <a:defPPr>
              <a:defRPr lang="en-US"/>
            </a:defPPr>
            <a:lvl1pPr algn="just">
              <a:defRPr sz="2000">
                <a:latin typeface="Arial" panose="020B0604020202020204" pitchFamily="34" charset="0"/>
                <a:cs typeface="Arial" panose="020B0604020202020204" pitchFamily="34" charset="0"/>
              </a:defRPr>
            </a:lvl1pPr>
          </a:lstStyle>
          <a:p>
            <a:r>
              <a:rPr lang="en-US" dirty="0"/>
              <a:t>Task 7: Landing Page Design</a:t>
            </a:r>
          </a:p>
        </p:txBody>
      </p:sp>
      <p:sp>
        <p:nvSpPr>
          <p:cNvPr id="3" name="TextBox 2">
            <a:extLst>
              <a:ext uri="{FF2B5EF4-FFF2-40B4-BE49-F238E27FC236}">
                <a16:creationId xmlns:a16="http://schemas.microsoft.com/office/drawing/2014/main" id="{673D24B9-F44E-6121-C8F5-54ACBA65630F}"/>
              </a:ext>
            </a:extLst>
          </p:cNvPr>
          <p:cNvSpPr txBox="1"/>
          <p:nvPr/>
        </p:nvSpPr>
        <p:spPr>
          <a:xfrm>
            <a:off x="1721184" y="1612490"/>
            <a:ext cx="7452313" cy="1061829"/>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US" dirty="0">
                <a:latin typeface="Arial" panose="020B0604020202020204" pitchFamily="34" charset="0"/>
                <a:cs typeface="Arial" panose="020B0604020202020204" pitchFamily="34" charset="0"/>
              </a:rPr>
              <a:t>The landing page is been created using a design tool called WIX.</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Landing page URL: </a:t>
            </a:r>
            <a:r>
              <a:rPr lang="en-US" dirty="0">
                <a:latin typeface="Arial" panose="020B0604020202020204" pitchFamily="34" charset="0"/>
                <a:cs typeface="Arial" panose="020B0604020202020204" pitchFamily="34" charset="0"/>
                <a:hlinkClick r:id="rId2"/>
              </a:rPr>
              <a:t>https://reddyshreyas9.wixsite.com/my-site-8</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3721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4327F6-2A9E-204A-4175-04498A1A48D0}"/>
              </a:ext>
            </a:extLst>
          </p:cNvPr>
          <p:cNvSpPr txBox="1"/>
          <p:nvPr/>
        </p:nvSpPr>
        <p:spPr>
          <a:xfrm>
            <a:off x="3957483" y="3013501"/>
            <a:ext cx="4277033" cy="830997"/>
          </a:xfrm>
          <a:prstGeom prst="rect">
            <a:avLst/>
          </a:prstGeom>
          <a:noFill/>
          <a:ln>
            <a:noFill/>
          </a:ln>
        </p:spPr>
        <p:txBody>
          <a:bodyPr wrap="square" rtlCol="0">
            <a:spAutoFit/>
          </a:bodyPr>
          <a:lstStyle/>
          <a:p>
            <a:pPr algn="ctr"/>
            <a:r>
              <a:rPr lang="en-US" sz="4800" dirty="0">
                <a:latin typeface="Arial" panose="020B0604020202020204" pitchFamily="34" charset="0"/>
                <a:cs typeface="Arial" panose="020B0604020202020204" pitchFamily="34" charset="0"/>
              </a:rPr>
              <a:t>THANK YOU</a:t>
            </a:r>
            <a:endParaRPr lang="en-IN" sz="4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241900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1937</TotalTime>
  <Words>763</Words>
  <Application>Microsoft Office PowerPoint</Application>
  <PresentationFormat>Widescreen</PresentationFormat>
  <Paragraphs>63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Shreyas Reddy Kanthareddy</dc:creator>
  <cp:lastModifiedBy>Shreyas Reddy Kanthareddy</cp:lastModifiedBy>
  <cp:revision>19</cp:revision>
  <dcterms:created xsi:type="dcterms:W3CDTF">2024-11-28T05:21:31Z</dcterms:created>
  <dcterms:modified xsi:type="dcterms:W3CDTF">2024-11-29T13:43:14Z</dcterms:modified>
</cp:coreProperties>
</file>